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FormForge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EFF6FF"/>
                </a:solidFill>
                <a:latin typeface="Calibri"/>
              </a:rPr>
              <a:t>Enterprise Form &amp; Document Management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Calibri"/>
              </a:rPr>
              <a:t>For Top Management &amp; IT Leadership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FF6FF"/>
                </a:solidFill>
                <a:latin typeface="Calibri"/>
              </a:rPr>
              <a:t>Standard Forms   •   PDF Forms   •   Plant Documents   •   Backup &amp; 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Prepared: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035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Version 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F3D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The problem, the platform, and the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Calibri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Field data collection, plant document control, and multi-tier approvals were fragmented across Excel, email, and shared drives — creating compliance risk, poor visibility, and slow decision cycles.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Calibri"/>
              </a:rPr>
              <a:t>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74720"/>
            <a:ext cx="10972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Single web platform for Standard &amp; PDF forms, plant document vaults, and approvals.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Strict 4-tier RBAC (Super Admin › Region › Cluster › Vendor) with row-level scoping.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One-click disaster-recovery snapshots + migration bundles + upload-restore.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Calibri"/>
              </a:rPr>
              <a:t>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Real-time dashboards across every submission, region, and plant.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Zero-loss disaster recovery — full restore in under 5 minutes.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Ready for on-prem or cloud; single-command Docker deploy.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FormForge — Enterprise Form &amp; Document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F3D"/>
                </a:solidFill>
                <a:latin typeface="Calibri"/>
              </a:rPr>
              <a:t>What FormForge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Four modules under one roof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2606040" cy="420624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606040" cy="320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F3D"/>
                </a:solidFill>
                <a:latin typeface="Calibri"/>
              </a:rPr>
              <a:t>Form Builder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22402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Drag-and-drop editor for standard forms with 20+ field types, conditional logic, plant lookups, and public URLs.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920240"/>
            <a:ext cx="2606040" cy="420624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920240"/>
            <a:ext cx="2606040" cy="320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42316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F3D"/>
                </a:solidFill>
                <a:latin typeface="Calibri"/>
              </a:rPr>
              <a:t>PDF Forms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971800"/>
            <a:ext cx="22402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Overlay text, checkboxes, radios and signatures onto existing PDF templates. Downloads keep native PDF layout.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920240"/>
            <a:ext cx="2606040" cy="420624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1920240"/>
            <a:ext cx="2606040" cy="320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42316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F3D"/>
                </a:solidFill>
                <a:latin typeface="Calibri"/>
              </a:rPr>
              <a:t>Plant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971800"/>
            <a:ext cx="22402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Per-plant document vaults with folder templates, drag-and-drop upload, inline preview, and zip-download.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1920240"/>
            <a:ext cx="2606040" cy="420624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1920240"/>
            <a:ext cx="2606040" cy="32004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42316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F3D"/>
                </a:solidFill>
                <a:latin typeface="Calibri"/>
              </a:rPr>
              <a:t>Backup &amp; Migration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971800"/>
            <a:ext cx="22402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One-click MongoDB + file snapshots. Restore from server-side or an uploaded .tar.gz. Move stacks in minutes.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FormForge — Enterprise Form &amp; Document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F3D"/>
                </a:solidFill>
                <a:latin typeface="Calibri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Why this matters to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55778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91440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F3D"/>
                </a:solidFill>
                <a:latin typeface="Calibri"/>
              </a:rPr>
              <a:t>Compliance-ready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Every submission is timestamped, audit-logged, and immutable. Full trail for auditors.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828800"/>
            <a:ext cx="55778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91440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6596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F3D"/>
                </a:solidFill>
                <a:latin typeface="Calibri"/>
              </a:rPr>
              <a:t>Real-time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23160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Dashboards roll up submissions across regions, plants, forms, and users.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37560"/>
            <a:ext cx="55778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337560"/>
            <a:ext cx="91440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7472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F3D"/>
                </a:solidFill>
                <a:latin typeface="Calibri"/>
              </a:rPr>
              <a:t>Zero-loss operations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31920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Automatic daily backups + one-click restore = disaster recovery in under 5 min.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337560"/>
            <a:ext cx="55778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337560"/>
            <a:ext cx="91440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47472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F3D"/>
                </a:solidFill>
                <a:latin typeface="Calibri"/>
              </a:rPr>
              <a:t>Vendor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931920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Multi-tier approval workflows enforce region → cluster → vendor sign-offs before actions.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46320"/>
            <a:ext cx="55778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846320"/>
            <a:ext cx="91440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8348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F3D"/>
                </a:solidFill>
                <a:latin typeface="Calibri"/>
              </a:rPr>
              <a:t>Faster field cycles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Public form URLs let vendors submit inspections from mobile without app installs.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4846320"/>
            <a:ext cx="55778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846320"/>
            <a:ext cx="91440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98348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F3D"/>
                </a:solidFill>
                <a:latin typeface="Calibri"/>
              </a:rPr>
              <a:t>Cost-controlled scaling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440680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Self-hosted on Docker. Predictable footprint, no per-submission fees.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FormForge — Enterprise Form &amp; Document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F3D"/>
                </a:solidFill>
                <a:latin typeface="Calibri"/>
              </a:rPr>
              <a:t>Feature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Everything that ships in the current 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•  </a:t>
            </a:r>
            <a:r>
              <a:rPr sz="1300">
                <a:solidFill>
                  <a:srgbClr val="1E293B"/>
                </a:solidFill>
                <a:latin typeface="Calibri"/>
              </a:rPr>
              <a:t>Standard form builder — 20+ field types, conditional logic, dynamic dropdowns, plant / asset lookups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•  </a:t>
            </a:r>
            <a:r>
              <a:rPr sz="1300">
                <a:solidFill>
                  <a:srgbClr val="1E293B"/>
                </a:solidFill>
                <a:latin typeface="Calibri"/>
              </a:rPr>
              <a:t>PDF form builder — per-option checkbox &amp; radio positioning, inline signature, filename templates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•  </a:t>
            </a:r>
            <a:r>
              <a:rPr sz="1300">
                <a:solidFill>
                  <a:srgbClr val="1E293B"/>
                </a:solidFill>
                <a:latin typeface="Calibri"/>
              </a:rPr>
              <a:t>Public forms — login-gated with submitter capture, customisable download filenames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•  </a:t>
            </a:r>
            <a:r>
              <a:rPr sz="1300">
                <a:solidFill>
                  <a:srgbClr val="1E293B"/>
                </a:solidFill>
                <a:latin typeface="Calibri"/>
              </a:rPr>
              <a:t>Plant documents — auto-provisioned folder templates, rename/delete/zip-download, drag-and-drop upload, inline PDF/image/DOCX viewer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•  </a:t>
            </a:r>
            <a:r>
              <a:rPr sz="1300">
                <a:solidFill>
                  <a:srgbClr val="1E293B"/>
                </a:solidFill>
                <a:latin typeface="Calibri"/>
              </a:rPr>
              <a:t>Schedule vs Actual maintenance tracker with mandatory evidence uploads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•  </a:t>
            </a:r>
            <a:r>
              <a:rPr sz="1300">
                <a:solidFill>
                  <a:srgbClr val="1E293B"/>
                </a:solidFill>
                <a:latin typeface="Calibri"/>
              </a:rPr>
              <a:t>Master data manager (vendors, plants, custom lookup tables) with CSV import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•  </a:t>
            </a:r>
            <a:r>
              <a:rPr sz="1300">
                <a:solidFill>
                  <a:srgbClr val="1E293B"/>
                </a:solidFill>
                <a:latin typeface="Calibri"/>
              </a:rPr>
              <a:t>Multi-tier approvals — deactivation &amp; permission changes route through Region → Cluster → Vendor Admin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•  </a:t>
            </a:r>
            <a:r>
              <a:rPr sz="1300">
                <a:solidFill>
                  <a:srgbClr val="1E293B"/>
                </a:solidFill>
                <a:latin typeface="Calibri"/>
              </a:rPr>
              <a:t>Backup &amp; Restore — snapshot download, migration bundle, restore-from-file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•  </a:t>
            </a:r>
            <a:r>
              <a:rPr sz="1300">
                <a:solidFill>
                  <a:srgbClr val="1E293B"/>
                </a:solidFill>
                <a:latin typeface="Calibri"/>
              </a:rPr>
              <a:t>Dashboard — trend charts, per-form analytics, storage usage, recent activity (includes PDF submissions)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•  </a:t>
            </a:r>
            <a:r>
              <a:rPr sz="1300">
                <a:solidFill>
                  <a:srgbClr val="1E293B"/>
                </a:solidFill>
                <a:latin typeface="Calibri"/>
              </a:rPr>
              <a:t>SMTP email notifications, in-app notifications, exportable audit logs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FormForge — Enterprise Form &amp; Document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F3D"/>
                </a:solidFill>
                <a:latin typeface="Calibri"/>
              </a:rPr>
              <a:t>Role-Based Access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Four tiers, strict row-level scoping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alibri"/>
              </a:rPr>
              <a:t>4-tier hierarchy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94560"/>
            <a:ext cx="5577840" cy="685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194560"/>
            <a:ext cx="128016" cy="68580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F3D"/>
                </a:solidFill>
                <a:latin typeface="Calibri"/>
              </a:rPr>
              <a:t>Super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Global. Configure system, users, backups.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71800"/>
            <a:ext cx="5577840" cy="685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971800"/>
            <a:ext cx="128016" cy="685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1752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F3D"/>
                </a:solidFill>
                <a:latin typeface="Calibri"/>
              </a:rPr>
              <a:t>Admin (Region)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3756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See only their region's plants, submissions, users.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49040"/>
            <a:ext cx="5577840" cy="685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49040"/>
            <a:ext cx="128016" cy="685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9476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F3D"/>
                </a:solidFill>
                <a:latin typeface="Calibri"/>
              </a:rPr>
              <a:t>Cluster Admin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11480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Owns cluster of vendors within a region.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26280"/>
            <a:ext cx="5577840" cy="685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526280"/>
            <a:ext cx="128016" cy="685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7200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F3D"/>
                </a:solidFill>
                <a:latin typeface="Calibri"/>
              </a:rPr>
              <a:t>Vendor Admin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920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See own vendor's users + sites only.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303520"/>
            <a:ext cx="5577840" cy="685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303520"/>
            <a:ext cx="128016" cy="6858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34924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F3D"/>
                </a:solidFill>
                <a:latin typeface="Calibri"/>
              </a:rPr>
              <a:t>Vendor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669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Only assigned sites; cannot see other vendor plants.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7373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alibri"/>
              </a:rPr>
              <a:t>Security controls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194560"/>
            <a:ext cx="53035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•  </a:t>
            </a:r>
            <a:r>
              <a:rPr sz="1200">
                <a:solidFill>
                  <a:srgbClr val="1E293B"/>
                </a:solidFill>
                <a:latin typeface="Calibri"/>
              </a:rPr>
              <a:t>bcrypt password hashing (12 rounds)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•  </a:t>
            </a:r>
            <a:r>
              <a:rPr sz="1200">
                <a:solidFill>
                  <a:srgbClr val="1E293B"/>
                </a:solidFill>
                <a:latin typeface="Calibri"/>
              </a:rPr>
              <a:t>JWT access tokens (32-byte secret enforced in strict mode)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•  </a:t>
            </a:r>
            <a:r>
              <a:rPr sz="1200">
                <a:solidFill>
                  <a:srgbClr val="1E293B"/>
                </a:solidFill>
                <a:latin typeface="Calibri"/>
              </a:rPr>
              <a:t>Row-level filters at the query layer — not just UI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•  </a:t>
            </a:r>
            <a:r>
              <a:rPr sz="1200">
                <a:solidFill>
                  <a:srgbClr val="1E293B"/>
                </a:solidFill>
                <a:latin typeface="Calibri"/>
              </a:rPr>
              <a:t>Tiered approval workflow for privileged actions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•  </a:t>
            </a:r>
            <a:r>
              <a:rPr sz="1200">
                <a:solidFill>
                  <a:srgbClr val="1E293B"/>
                </a:solidFill>
                <a:latin typeface="Calibri"/>
              </a:rPr>
              <a:t>Every mutation writes an immutable audit-log entry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•  </a:t>
            </a:r>
            <a:r>
              <a:rPr sz="1200">
                <a:solidFill>
                  <a:srgbClr val="1E293B"/>
                </a:solidFill>
                <a:latin typeface="Calibri"/>
              </a:rPr>
              <a:t>CORS lockdown + optional HTTPS via nginx TLS block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•  </a:t>
            </a:r>
            <a:r>
              <a:rPr sz="1200">
                <a:solidFill>
                  <a:srgbClr val="1E293B"/>
                </a:solidFill>
                <a:latin typeface="Calibri"/>
              </a:rPr>
              <a:t>Backups gated to super_admin only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•  </a:t>
            </a:r>
            <a:r>
              <a:rPr sz="1200">
                <a:solidFill>
                  <a:srgbClr val="1E293B"/>
                </a:solidFill>
                <a:latin typeface="Calibri"/>
              </a:rPr>
              <a:t>Public forms require login unless explicitly opened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FormForge — Enterprise Form &amp; Document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Page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F3D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React SPA · FastAPI · MongoDB — all containerised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291840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React SPA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FF6FF"/>
                </a:solidFill>
                <a:latin typeface="Calibri"/>
              </a:rPr>
              <a:t>Vite/Craco · Tailwind · shadcn/ui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828800"/>
            <a:ext cx="3291840" cy="91440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659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FastAPI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3172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FF6FF"/>
                </a:solidFill>
                <a:latin typeface="Calibri"/>
              </a:rPr>
              <a:t>Python 3.11 · async · JWT + RBAC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828800"/>
            <a:ext cx="3291840" cy="914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9659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3172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FF6FF"/>
                </a:solidFill>
                <a:latin typeface="Calibri"/>
              </a:rPr>
              <a:t>20+ collections · mongodump-backed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2286000"/>
            <a:ext cx="7315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1089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Calibri"/>
              </a:rPr>
              <a:t>Support systems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66160"/>
            <a:ext cx="3703320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760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F3D"/>
                </a:solidFill>
                <a:latin typeface="Calibri"/>
              </a:rPr>
              <a:t>nginx gateway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TLS termination · WS · /api → 8001 · /* → 3000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3566160"/>
            <a:ext cx="3703320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65760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F3D"/>
                </a:solidFill>
                <a:latin typeface="Calibri"/>
              </a:rPr>
              <a:t>Docker 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02336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4 services · named volumes · single-command boot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3566160"/>
            <a:ext cx="3703320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365760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F3D"/>
                </a:solidFill>
                <a:latin typeface="Calibri"/>
              </a:rPr>
              <a:t>Local file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02336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Configurable roots via .env — no S3 dependency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26280"/>
            <a:ext cx="3703320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61772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F3D"/>
                </a:solidFill>
                <a:latin typeface="Calibri"/>
              </a:rPr>
              <a:t>mongodump / mongorestore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8348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Full DB dump into portable .archive.gz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4526280"/>
            <a:ext cx="3703320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461772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F3D"/>
                </a:solidFill>
                <a:latin typeface="Calibri"/>
              </a:rPr>
              <a:t>SMTP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98348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Optional — for approvals &amp; notifications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4526280"/>
            <a:ext cx="3703320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461772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F3D"/>
                </a:solidFill>
                <a:latin typeface="Calibri"/>
              </a:rPr>
              <a:t>mammoth.js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98348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>Client-side .docx → HTML for inline preview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FormForge — Enterprise Form &amp; Document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Page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F3D"/>
                </a:solidFill>
                <a:latin typeface="Calibri"/>
              </a:rPr>
              <a:t>Disaster Recovery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Fully self-serve; no vendor lock-in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1064240" cy="10515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37160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F3D"/>
                </a:solidFill>
                <a:latin typeface="Calibri"/>
              </a:rPr>
              <a:t>1. Daily auto-snapshot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Automatic tarball at configurable UTC time — MongoDB dump + all upload roots. Retention window is configurable (default 3 days).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71800"/>
            <a:ext cx="11064240" cy="10515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971800"/>
            <a:ext cx="137160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089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F3D"/>
                </a:solidFill>
                <a:latin typeface="Calibri"/>
              </a:rPr>
              <a:t>2. Manual snapshot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7472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Super-admin can trigger anytime from Settings → Backup &amp; Restore. Takes ~30 seconds for a mid-size deployment.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114800"/>
            <a:ext cx="11064240" cy="10515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14800"/>
            <a:ext cx="137160" cy="1051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519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F3D"/>
                </a:solidFill>
                <a:latin typeface="Calibri"/>
              </a:rPr>
              <a:t>3. Migration bundle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61772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Single button generates and downloads a portable .tar.gz that can be restored on any host via ./migrate.sh or the in-app uploader.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57800"/>
            <a:ext cx="11064240" cy="10515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257800"/>
            <a:ext cx="137160" cy="105156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F3D"/>
                </a:solidFill>
                <a:latin typeface="Calibri"/>
              </a:rPr>
              <a:t>4. Restore from 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76072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Upload a bundle from disk; the app restores Mongo + uploads. Total time from click to running system: 30 sec – 5 min depending on size.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FormForge — Enterprise Form &amp; Document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Page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F3D"/>
                </a:solidFill>
                <a:latin typeface="Calibri"/>
              </a:rPr>
              <a:t>Deployment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Same codebase, three delivery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70332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370332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11096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On-Premises 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23160"/>
            <a:ext cx="3337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One-command boot via docker compose.  4 services (Mongo + backend + frontend + gateway).  Ideal for HSE, plant-ops, restricted-network deployments.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23360"/>
            <a:ext cx="333756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No egress required after image build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Full data sovereignty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Runs on Windows Docker Desktop or Linux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828800"/>
            <a:ext cx="370332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70332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911096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Cloud 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423160"/>
            <a:ext cx="3337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Same Docker stack on any VPS (AWS EC2, Azure VM, GCP Compute).  nginx TLS block + certbot for HTTPS.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023360"/>
            <a:ext cx="333756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Elastic scale-up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Managed backups to S3-compatible storage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Public URL / custom domain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828800"/>
            <a:ext cx="370332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828800"/>
            <a:ext cx="370332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911096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Local (Dev / Field-Rugged)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23160"/>
            <a:ext cx="3337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Native Windows / Linux run — Python + Node + MongoDB Community.  Perfect for offline field boxes or air-gapped labs.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4023360"/>
            <a:ext cx="333756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No container overhead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Native MongoDB installer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MONGODUMP_BIN env-var for portable backups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FormForge — Enterprise Form &amp; Document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Page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F3D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Modern, well-supported, no proprietary dependencies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3703320" cy="21945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F3D"/>
                </a:solidFill>
                <a:latin typeface="Calibri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4290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React 18 + Create React App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Tailwind CSS + shadcn/ui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React-PDF (pdf.js)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mammoth.js (.docx render)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Axios · React-Router · Recharts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83080"/>
            <a:ext cx="3703320" cy="21945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2024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F3D"/>
                </a:solidFill>
                <a:latin typeface="Calibri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31720"/>
            <a:ext cx="34290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Python 3.11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FastAPI + Uvicorn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Motor (async MongoDB)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PyMuPDF + pypdf (PDF ops)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PyJWT · bcrypt · Pydantic v2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783080"/>
            <a:ext cx="3703320" cy="21945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2024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F3D"/>
                </a:solidFill>
                <a:latin typeface="Calibri"/>
              </a:rP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331720"/>
            <a:ext cx="34290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MongoDB 7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20+ collections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mongodump / mongorestore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Indexes on user_id, form_id, site_id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69080"/>
            <a:ext cx="3703320" cy="21945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0624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F3D"/>
                </a:solidFill>
                <a:latin typeface="Calibri"/>
              </a:rPr>
              <a:t>Infra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17720"/>
            <a:ext cx="34290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Docker · Docker Compose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nginx (gateway + static)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Named volumes for uploads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Optional SMTP relay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4069080"/>
            <a:ext cx="3703320" cy="21945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20624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F3D"/>
                </a:solidFill>
                <a:latin typeface="Calibri"/>
              </a:rPr>
              <a:t>Tooling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617720"/>
            <a:ext cx="34290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Yarn (frontend)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pip freeze pinned reqs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supervisord in dev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GitHub Actions ready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80" y="4069080"/>
            <a:ext cx="3703320" cy="21945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420624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F3D"/>
                </a:solidFill>
                <a:latin typeface="Calibri"/>
              </a:rPr>
              <a:t>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617720"/>
            <a:ext cx="34290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JWT auth (256-bit secret)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bcrypt (12 rounds)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Query-layer RLS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Immutable audit log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•  </a:t>
            </a:r>
            <a:r>
              <a:rPr sz="1000">
                <a:solidFill>
                  <a:srgbClr val="1E293B"/>
                </a:solidFill>
                <a:latin typeface="Calibri"/>
              </a:rPr>
              <a:t>CORS lockdown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FormForge — Enterprise Form &amp; Document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Page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F3D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What's next on the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70332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37033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11096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Now — Shipping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3375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Standard + PDF form builders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Plant documents vault (rename / zip / inline viewer)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Full backup / restore / migration bundle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Restore from any local .tar.gz file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Multi-tier approval workflows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Dashboard incl. PDF submissions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70332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828800"/>
            <a:ext cx="370332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911096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 — In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468880"/>
            <a:ext cx="33375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Signature field enhancements (pen colour, type-to-sign, save to profile)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Dashboard system-health widget (snapshot age, disk usage, doc counts)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Backup verification endpoint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Bulk file actions (multi-select + zip / delete)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80" y="1828800"/>
            <a:ext cx="370332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80" y="1828800"/>
            <a:ext cx="370332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911096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Later — Backlog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468880"/>
            <a:ext cx="33375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Excel/xlsx inline preview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Push notifications (Web Push / mobile)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SAML / SSO integration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Regional multi-tenant partitioning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•  </a:t>
            </a:r>
            <a:r>
              <a:rPr sz="1100">
                <a:solidFill>
                  <a:srgbClr val="1E293B"/>
                </a:solidFill>
                <a:latin typeface="Calibri"/>
              </a:rPr>
              <a:t>S3-compatible remote backup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FormForge — Enterprise Form &amp; Document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Page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FF6FF"/>
                </a:solidFill>
                <a:latin typeface="Calibri"/>
              </a:rPr>
              <a:t>Live demo · Deep-dive by module · Roadmap prioritisation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563EB"/>
                </a:solidFill>
                <a:latin typeface="Calibr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