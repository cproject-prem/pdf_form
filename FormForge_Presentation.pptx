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dirty="0" err="1">
                <a:solidFill>
                  <a:srgbClr val="FFFFFF"/>
                </a:solidFill>
                <a:latin typeface="Calibri"/>
              </a:rPr>
              <a:t>FormForge</a:t>
            </a:r>
            <a:r>
              <a:rPr lang="en-IN" sz="6400" b="1" dirty="0">
                <a:solidFill>
                  <a:srgbClr val="FFFFFF"/>
                </a:solidFill>
                <a:latin typeface="Calibri"/>
              </a:rPr>
              <a:t>- Site Management</a:t>
            </a:r>
            <a:endParaRPr sz="6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EFF6FF"/>
                </a:solidFill>
                <a:latin typeface="Calibri"/>
              </a:rPr>
              <a:t>Enterprise Form &amp; Document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For Top Management &amp; IT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Calibri"/>
              </a:rPr>
              <a:t>Standard Forms   •   PDF Forms   •   Plant Documents   •   Backup &amp; Restore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Prepared: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035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The problem, the platform, and the payoff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Field data collection, plant document control, and multi-tier approvals were fragmented across Excel, email, and shared drives — creating compliance risk, poor visibility, and slow decision cycles.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972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Single web platform for Standard &amp; PDF forms, plant document vaults, and approvals.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Strict 4-tier RBAC (Super Admin › Region › Cluster › Vendor) with row-level scoping.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One-click disaster-recovery snapshots + migration bundles + upload-restore.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Real-time dashboards across every submission, region, and plant.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Zero-loss disaster recovery — full restore in under 5 minutes.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Ready for on-prem or cloud; single-command Docker deploy.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What FormForge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Four modules under one 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606040" cy="42062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2606040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F3D"/>
                </a:solidFill>
                <a:latin typeface="Calibri"/>
              </a:rPr>
              <a:t>Form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22402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Drag-and-drop editor for standard forms with 20+ field types, conditional logic, plant lookups, and public URLs.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920240"/>
            <a:ext cx="2606040" cy="42062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920240"/>
            <a:ext cx="260604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4231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F3D"/>
                </a:solidFill>
                <a:latin typeface="Calibri"/>
              </a:rPr>
              <a:t>PDF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22402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Overlay text, checkboxes, radios and signatures onto existing PDF templates. Downloads keep native PDF layout.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20240"/>
            <a:ext cx="2606040" cy="42062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920240"/>
            <a:ext cx="2606040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F3D"/>
                </a:solidFill>
                <a:latin typeface="Calibri"/>
              </a:rPr>
              <a:t>Plant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971800"/>
            <a:ext cx="22402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Per-plant document vaults with folder templates, drag-and-drop upload, inline preview, and zip-download.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920240"/>
            <a:ext cx="2606040" cy="420624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920240"/>
            <a:ext cx="2606040" cy="320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24231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F3D"/>
                </a:solidFill>
                <a:latin typeface="Calibri"/>
              </a:rPr>
              <a:t>Backup &amp; Migration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971800"/>
            <a:ext cx="22402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One-click MongoDB + file snapshots. Restore from server-side or an uploaded .tar.gz. Move stacks in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Why this matters to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5778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Compliance-ready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Every submission is timestamped, audit-logged, and immutable. Full trail for auditors.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5778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Real-time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Dashboards roll up submissions across regions, plants, forms, and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55778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Zero-loss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Automatic daily backups + one-click restore = disaster recovery in under 5 min.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337560"/>
            <a:ext cx="55778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Vendor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Multi-tier approval workflows enforce region → cluster → vendor sign-offs before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46320"/>
            <a:ext cx="55778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84632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Faster field cycles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Public form URLs let vendors submit inspections from mobile without app installs.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846320"/>
            <a:ext cx="55778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84632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9834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Cost-controlled 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4068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Self-hosted on Docker. Predictable footprint, no per-submission fees.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Feature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Everything that ships in the current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Standard form builder — 20+ field types, conditional logic, dynamic dropdowns, plant / asset lookups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PDF form builder — per-option checkbox &amp; radio positioning, inline signature, filename templates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Public forms — login-gated with submitter capture, customisable download filenames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Plant documents — auto-provisioned folder templates, rename/delete/zip-download, drag-and-drop upload, inline PDF/image/DOCX viewer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Schedule vs Actual maintenance tracker with mandatory evidence uploads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Master data manager (vendors, plants, custom lookup tables) with CSV import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Multi-tier approvals — deactivation &amp; permission changes route through Region → Cluster → Vendor Admin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Backup &amp; Restore — snapshot download, migration bundle, restore-from-file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Dashboard — trend charts, per-form analytics, storage usage, recent activity (includes PDF submissions)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E293B"/>
                </a:solidFill>
                <a:latin typeface="Calibri"/>
              </a:rPr>
              <a:t>SMTP email notifications, in-app notifications, exportable audit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Role-Based Access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Four tiers, strict row-level scoping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4-tier hierarchy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5577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128016" cy="6858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Super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Global. Configure system, users, backups.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5577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128016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Admin (Region)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See only their region's plants, submissions, users.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49040"/>
            <a:ext cx="5577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749040"/>
            <a:ext cx="128016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Cluster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Owns cluster of vendors within a region.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26280"/>
            <a:ext cx="5577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526280"/>
            <a:ext cx="128016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Vendor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See own vendor's users + sites only.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03520"/>
            <a:ext cx="5577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5303520"/>
            <a:ext cx="128016" cy="6858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3492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Vendor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692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Only assigned sites; cannot see other vendor plants.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Security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194560"/>
            <a:ext cx="53035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1E293B"/>
                </a:solidFill>
                <a:latin typeface="Calibri"/>
              </a:rPr>
              <a:t>bcrypt password hashing (12 rounds)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1E293B"/>
                </a:solidFill>
                <a:latin typeface="Calibri"/>
              </a:rPr>
              <a:t>JWT access tokens (32-byte secret enforced in strict mode)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1E293B"/>
                </a:solidFill>
                <a:latin typeface="Calibri"/>
              </a:rPr>
              <a:t>Row-level filters at the query layer — not just UI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1E293B"/>
                </a:solidFill>
                <a:latin typeface="Calibri"/>
              </a:rPr>
              <a:t>Tiered approval workflow for privileged actions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1E293B"/>
                </a:solidFill>
                <a:latin typeface="Calibri"/>
              </a:rPr>
              <a:t>Every mutation writes an immutable audit-log entry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1E293B"/>
                </a:solidFill>
                <a:latin typeface="Calibri"/>
              </a:rPr>
              <a:t>CORS lockdown + optional HTTPS via nginx TLS block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1E293B"/>
                </a:solidFill>
                <a:latin typeface="Calibri"/>
              </a:rPr>
              <a:t>Backups gated to super_admin only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1E293B"/>
                </a:solidFill>
                <a:latin typeface="Calibri"/>
              </a:rPr>
              <a:t>Public forms require login unless explicitly opened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React SPA · FastAPI · MongoDB — all containerised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29184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React 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EFF6FF"/>
                </a:solidFill>
                <a:latin typeface="Calibri"/>
              </a:rPr>
              <a:t>Vite/Craco · Tailwind · shadcn/ui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291840" cy="9144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FastAPI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EFF6FF"/>
                </a:solidFill>
                <a:latin typeface="Calibri"/>
              </a:rPr>
              <a:t>Python 3.11 · async · JWT + RBAC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828800"/>
            <a:ext cx="329184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317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EFF6FF"/>
                </a:solidFill>
                <a:latin typeface="Calibri"/>
              </a:rPr>
              <a:t>20+ collections · mongodump-backed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286000"/>
            <a:ext cx="7315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63840" y="2286000"/>
            <a:ext cx="7315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Support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3703320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nginx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TLS termination · WS · /api → 8001 · /* → 3000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566160"/>
            <a:ext cx="3703320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36576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Docker 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2336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4 services · named volumes · single-command boot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566160"/>
            <a:ext cx="3703320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36576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Local file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02336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Configurable roots via .env — no S3 dependency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26280"/>
            <a:ext cx="3703320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6177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mongodump / mongorestore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Full DB dump into portable .archive.gz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526280"/>
            <a:ext cx="3703320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0" y="46177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SMTP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9834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Optional — for approvals &amp; notifications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526280"/>
            <a:ext cx="3703320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46177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mammoth.js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9834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Client-side .docx → HTML for inline preview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Disaster Recovery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Fully self-serve; no vendor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1051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37160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1. Daily auto-snapshot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Automatic tarball at configurable UTC time — MongoDB dump + all upload roots. Retention window is configurable (default 3 days).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11064240" cy="1051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137160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2. Manual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Super-admin can trigger anytime from Settings → Backup &amp; Restore. Takes ~30 seconds for a mid-size deployment.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64240" cy="1051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3. Migration bundle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Single button generates and downloads a portable .tar.gz that can be restored on any host via ./migrate.sh or the in-app uploader.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57800"/>
            <a:ext cx="11064240" cy="1051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137160" cy="10515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D"/>
                </a:solidFill>
                <a:latin typeface="Calibri"/>
              </a:rPr>
              <a:t>4. Restore from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Upload a bundle from disk; the app restores Mongo + uploads. Total time from click to running system: 30 sec – 5 min depending on size.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Deployment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Same codebase, three delivery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7033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11096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On-Premises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One-command boot via docker compose.  4 services (Mongo + backend + frontend + gateway).  Ideal for HSE, plant-ops, restricted-network deployments.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3375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No egress required after image build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Full data sovereignty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Runs on Windows Docker Desktop or Linux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7033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911096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Cloud 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23160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Same Docker stack on any VPS (AWS EC2, Azure VM, GCP Compute).  nginx TLS block + certbot for HTTPS.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023360"/>
            <a:ext cx="33375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Elastic scale-up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Managed backups to S3-compatible storage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Public URL / custom domain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82880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80" y="1828800"/>
            <a:ext cx="37033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911096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Local (Dev / Field-Rugged)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Native Windows / Linux run — Python + Node + MongoDB Community.  Perfect for offline field boxes or air-gapped labs.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023360"/>
            <a:ext cx="333756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No container overhead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Native MongoDB installer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MONGODUMP_BIN env-var for portable backups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Modern, well-supported, no proprietary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3703320" cy="2194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4290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React 18 + Create React App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Tailwind CSS + shadcn/ui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React-PDF (pdf.js)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mammoth.js (.docx render)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Axios · React-Router · Recharts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703320" cy="2194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4290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Python 3.11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FastAPI + Uvicorn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Motor (async MongoDB)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PyMuPDF + pypdf (PDF ops)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PyJWT · bcrypt · Pydantic v2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783080"/>
            <a:ext cx="3703320" cy="2194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31720"/>
            <a:ext cx="34290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MongoDB 7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20+ collections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mongodump / mongorestore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Indexes on user_id, form_id, site_id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3703320" cy="2194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17720"/>
            <a:ext cx="34290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Docker · Docker Compose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nginx (gateway + static)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Named volumes for uploads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Optional SMTP relay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4069080"/>
            <a:ext cx="3703320" cy="2194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Tooling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17720"/>
            <a:ext cx="34290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Yarn (frontend)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pip freeze pinned reqs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supervisord in dev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GitHub Actions ready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4069080"/>
            <a:ext cx="3703320" cy="21945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42062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1F3D"/>
                </a:solidFill>
                <a:latin typeface="Calibri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617720"/>
            <a:ext cx="34290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JWT auth (256-bit secret)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bcrypt (12 rounds)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Query-layer RLS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Immutable audit log</a:t>
            </a: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•  </a:t>
            </a:r>
            <a:r>
              <a:rPr sz="1000">
                <a:solidFill>
                  <a:srgbClr val="1E293B"/>
                </a:solidFill>
                <a:latin typeface="Calibri"/>
              </a:rPr>
              <a:t>CORS lockdown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F1F3D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What's next on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30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7033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11096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Now — Shipping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3375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Standard + PDF form builders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Plant documents vault (rename / zip / inline viewer)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Full backup / restore / migration bundle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Restore from any local .tar.gz file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Multi-tier approval workflows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•  </a:t>
            </a:r>
            <a:r>
              <a:rPr sz="1100">
                <a:solidFill>
                  <a:srgbClr val="1E293B"/>
                </a:solidFill>
                <a:latin typeface="Calibri"/>
              </a:rPr>
              <a:t>Dashboard incl. PDF submissions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7033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911096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 — 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68880"/>
            <a:ext cx="3337560" cy="179023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100" dirty="0">
                <a:solidFill>
                  <a:srgbClr val="1E293B"/>
                </a:solidFill>
                <a:latin typeface="Calibri"/>
              </a:rPr>
              <a:t>Dashboard system-health widget (snapshot age, disk usage, doc counts)</a:t>
            </a:r>
          </a:p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100" dirty="0">
                <a:solidFill>
                  <a:srgbClr val="1E293B"/>
                </a:solidFill>
                <a:latin typeface="Calibri"/>
              </a:rPr>
              <a:t>Backup verification endpoint</a:t>
            </a:r>
          </a:p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100" dirty="0">
                <a:solidFill>
                  <a:srgbClr val="1E293B"/>
                </a:solidFill>
                <a:latin typeface="Calibri"/>
              </a:rPr>
              <a:t>Bulk file actions (multi-select + zip / delete)</a:t>
            </a:r>
            <a:endParaRPr lang="en-IN" sz="1100"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IN"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lang="en-IN" sz="1100" dirty="0">
                <a:solidFill>
                  <a:srgbClr val="1E293B"/>
                </a:solidFill>
                <a:latin typeface="Calibri"/>
              </a:rPr>
              <a:t>AI Chat Box integration.</a:t>
            </a:r>
          </a:p>
          <a:p>
            <a:pPr>
              <a:spcAft>
                <a:spcPts val="800"/>
              </a:spcAft>
            </a:pPr>
            <a:r>
              <a:rPr lang="en-IN"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lang="en-IN" sz="1100" dirty="0">
                <a:solidFill>
                  <a:srgbClr val="1E293B"/>
                </a:solidFill>
                <a:latin typeface="Calibri"/>
              </a:rPr>
              <a:t>AI Integration for Form Creation.</a:t>
            </a:r>
          </a:p>
          <a:p>
            <a:pPr algn="l">
              <a:spcAft>
                <a:spcPts val="800"/>
              </a:spcAft>
            </a:pPr>
            <a:endParaRPr sz="11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83880" y="182880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828800"/>
            <a:ext cx="370332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911096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Later — Backlog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68880"/>
            <a:ext cx="3337560" cy="24365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100" dirty="0">
                <a:solidFill>
                  <a:srgbClr val="1E293B"/>
                </a:solidFill>
                <a:latin typeface="Calibri"/>
              </a:rPr>
              <a:t>Excel/xlsx inline preview</a:t>
            </a:r>
          </a:p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100" dirty="0">
                <a:solidFill>
                  <a:srgbClr val="1E293B"/>
                </a:solidFill>
                <a:latin typeface="Calibri"/>
              </a:rPr>
              <a:t>Push notifications (Web Push / mobile)</a:t>
            </a:r>
          </a:p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100" dirty="0">
                <a:solidFill>
                  <a:srgbClr val="1E293B"/>
                </a:solidFill>
                <a:latin typeface="Calibri"/>
              </a:rPr>
              <a:t>SAML / SSO integration</a:t>
            </a:r>
          </a:p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100" dirty="0">
                <a:solidFill>
                  <a:srgbClr val="1E293B"/>
                </a:solidFill>
                <a:latin typeface="Calibri"/>
              </a:rPr>
              <a:t>Regional multi-tenant partitioning</a:t>
            </a:r>
          </a:p>
          <a:p>
            <a:pPr algn="l">
              <a:spcAft>
                <a:spcPts val="800"/>
              </a:spcAft>
            </a:pPr>
            <a:r>
              <a:rPr sz="11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100" dirty="0">
                <a:solidFill>
                  <a:srgbClr val="1E293B"/>
                </a:solidFill>
                <a:latin typeface="Calibri"/>
              </a:rPr>
              <a:t>S3-compatible remote backup target</a:t>
            </a:r>
            <a:endParaRPr lang="en-IN" sz="1100" dirty="0">
              <a:solidFill>
                <a:srgbClr val="1E293B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IN" sz="1100" b="1" dirty="0">
                <a:solidFill>
                  <a:srgbClr val="2563EB"/>
                </a:solidFill>
              </a:rPr>
              <a:t>•  </a:t>
            </a:r>
            <a:r>
              <a:rPr lang="en-IN" sz="1100" dirty="0">
                <a:solidFill>
                  <a:srgbClr val="1E293B"/>
                </a:solidFill>
                <a:latin typeface="Calibri"/>
              </a:rPr>
              <a:t>RCA Chat Box analysis purpose.</a:t>
            </a:r>
          </a:p>
          <a:p>
            <a:pPr>
              <a:spcAft>
                <a:spcPts val="800"/>
              </a:spcAft>
            </a:pPr>
            <a:r>
              <a:rPr lang="en-IN" sz="1100" b="1" dirty="0">
                <a:solidFill>
                  <a:srgbClr val="2563EB"/>
                </a:solidFill>
              </a:rPr>
              <a:t>•  </a:t>
            </a:r>
            <a:r>
              <a:rPr lang="en-IN" sz="1100" dirty="0">
                <a:solidFill>
                  <a:srgbClr val="1E293B"/>
                </a:solidFill>
                <a:latin typeface="Calibri"/>
              </a:rPr>
              <a:t>Photo Recognition for PPE and approval.</a:t>
            </a:r>
          </a:p>
          <a:p>
            <a:pPr>
              <a:spcAft>
                <a:spcPts val="800"/>
              </a:spcAft>
            </a:pPr>
            <a:endParaRPr lang="en-IN" sz="1100" dirty="0">
              <a:solidFill>
                <a:srgbClr val="1E293B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endParaRPr sz="110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FormForge — Enterprise Form &amp; Document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FF6FF"/>
                </a:solidFill>
                <a:latin typeface="Calibri"/>
              </a:rPr>
              <a:t>Live demo · Deep-dive by module · Roadmap prioritisation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563EB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1454</Words>
  <Application>Microsoft Office PowerPoint</Application>
  <PresentationFormat>Widescreen</PresentationFormat>
  <Paragraphs>205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Prem Kumar</cp:lastModifiedBy>
  <cp:revision>2</cp:revision>
  <dcterms:created xsi:type="dcterms:W3CDTF">2013-01-27T09:14:16Z</dcterms:created>
  <dcterms:modified xsi:type="dcterms:W3CDTF">2026-07-27T05:55:19Z</dcterms:modified>
  <cp:category/>
</cp:coreProperties>
</file>